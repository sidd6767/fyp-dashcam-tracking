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10"/>
  </p:notesMasterIdLst>
  <p:sldIdLst>
    <p:sldId id="256" r:id="rId2"/>
    <p:sldId id="260" r:id="rId3"/>
    <p:sldId id="262" r:id="rId4"/>
    <p:sldId id="263" r:id="rId5"/>
    <p:sldId id="265" r:id="rId6"/>
    <p:sldId id="269" r:id="rId7"/>
    <p:sldId id="268" r:id="rId8"/>
    <p:sldId id="267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>
        <p:scale>
          <a:sx n="100" d="100"/>
          <a:sy n="100" d="100"/>
        </p:scale>
        <p:origin x="907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13609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938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CBB81-50FA-E606-35B6-48EE08CF39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0C823-D55A-2291-2F87-75480EC708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Name and Enrollment Number of all group members</a:t>
            </a:r>
          </a:p>
          <a:p>
            <a:endParaRPr lang="en-US" dirty="0"/>
          </a:p>
          <a:p>
            <a:r>
              <a:rPr lang="en-US" dirty="0"/>
              <a:t>Name of the supervisor(s)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66C4C-9F09-9D53-A7F1-4FDF6CA7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229C6-757B-425F-9C88-60241F304F1C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4F3D4-F906-8844-1A69-425203791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E9D88-6EF7-8CFF-B99D-DE534F5A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099170-D717-2402-BE6F-113567B4C6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964" r="26247"/>
          <a:stretch>
            <a:fillRect/>
          </a:stretch>
        </p:blipFill>
        <p:spPr>
          <a:xfrm>
            <a:off x="90152" y="0"/>
            <a:ext cx="817809" cy="9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746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C5C5D-96B4-54CB-0CFF-8A2D29B2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0663B-B40B-81CE-3CF8-ECE29AD14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CFC79-A4C9-E392-4AC3-3B44173AA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5CC6-70AC-4D6F-9073-9042E8359FDC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AE05-4F65-4AD8-3B96-6D0F9E10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C6714-1AF6-7A55-20F7-40FCE34C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F36DC6-D138-F509-7799-653BB53286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964" r="26247"/>
          <a:stretch>
            <a:fillRect/>
          </a:stretch>
        </p:blipFill>
        <p:spPr>
          <a:xfrm>
            <a:off x="0" y="0"/>
            <a:ext cx="817809" cy="9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7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B73EB-7DF9-2565-C5ED-048D7A2DB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C04B0-F779-994E-C650-E7881A6BD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0C1F1-3CC4-2FA3-D3FF-F78DC40B9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1D39-CEFA-46C2-B6CF-53400435D1F5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B734-2452-57D2-85B4-F632B04C1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655B5-EEC2-336C-C25C-38E6BAFD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3EB29D-BD21-26BF-FA50-AE02A35305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964" r="26247"/>
          <a:stretch>
            <a:fillRect/>
          </a:stretch>
        </p:blipFill>
        <p:spPr>
          <a:xfrm>
            <a:off x="12884" y="0"/>
            <a:ext cx="817809" cy="9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67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AE58-B39B-B825-4BF2-3F24A006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D74D1-BBBF-D8AF-67BD-2F2A84D84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B0F70-10D4-BB83-21DB-DF9A6D292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4AC57-882C-E915-1997-A28B2F95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3127-876E-4170-9EF9-8CF7FBD6B70F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5D054-E59A-607B-3511-65BFA3D0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B0317-5CF9-260D-C90A-FF206961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07640B-BFBF-75ED-4B5B-735C60A2F8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964" r="26247"/>
          <a:stretch>
            <a:fillRect/>
          </a:stretch>
        </p:blipFill>
        <p:spPr>
          <a:xfrm>
            <a:off x="12881" y="0"/>
            <a:ext cx="817809" cy="9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862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EE457-4AA0-EDD8-6DD4-3DE41F41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D67A5-59DC-A970-2832-A92427CEF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23898-D7F6-74B9-3737-ECCF114DC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63C72D-53EF-C13A-33CF-4365E10D3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323D4-3508-D2E2-A06B-B1ECB295D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5FDD41-8D81-2260-A161-B0B519207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DB81A-61F5-4E83-ADB1-45FF8D2DA688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C9F9D9-75A3-C244-2A49-53E3D482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B4C12E-FFE4-6BAC-2D74-2CBB567AF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1D4558-9772-286F-8DA3-04599ACCC5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964" r="26247"/>
          <a:stretch>
            <a:fillRect/>
          </a:stretch>
        </p:blipFill>
        <p:spPr>
          <a:xfrm>
            <a:off x="12882" y="0"/>
            <a:ext cx="817809" cy="9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996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589D4-6653-F930-DED4-B04EF59C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298C9-5E72-7E15-4836-67E1069D3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642B-A71D-4602-8B60-146F1AC2772C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8DB1E-F987-A29D-AD1F-2492AFFF9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66996-AB28-C26A-436D-27C140B7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A92296-6383-6562-A8CD-9407AC5E99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964" r="26247"/>
          <a:stretch>
            <a:fillRect/>
          </a:stretch>
        </p:blipFill>
        <p:spPr>
          <a:xfrm>
            <a:off x="6445" y="0"/>
            <a:ext cx="817809" cy="9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95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543C8-1E31-5B31-FF3D-069399D25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AA93F-2787-4FAB-B3D2-2DF3B8CC6CB2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2ED1AC-3BA7-CE68-9B39-4EF94465F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3C20B-EC25-1A35-55EA-6C371DB8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31AE69-D094-4D5A-37F6-DE16718C6E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964" r="26247"/>
          <a:stretch>
            <a:fillRect/>
          </a:stretch>
        </p:blipFill>
        <p:spPr>
          <a:xfrm>
            <a:off x="6444" y="0"/>
            <a:ext cx="817809" cy="9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30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FE8F-B688-082B-2D0E-9C469CCE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CA714-5299-AF05-0DDC-79354D9F8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FE402-86AF-A204-03DA-A8CAFE608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73BDB-3A3C-B0EB-30E6-BE6240EC8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42BC8-BA6A-400B-B3CF-2BAEA1FE043F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50713-6965-FD2B-6D1A-162E4A4FA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52F73-3A50-BD8B-27A2-ECB3F6AA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241F4D-EDA9-1DF2-F276-6A9028C696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964" r="26247"/>
          <a:stretch>
            <a:fillRect/>
          </a:stretch>
        </p:blipFill>
        <p:spPr>
          <a:xfrm>
            <a:off x="12882" y="0"/>
            <a:ext cx="817809" cy="9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6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87B23-743C-8018-D460-F4CB9D2E7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0FBED0-0AAC-FB78-4396-41C3B74D0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7F61F-EF5B-8F84-BCD2-D343B9BE8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474E7-6EA2-54C2-E2C8-24E12881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5F46-F941-4DB6-AF5B-B480CC1D1185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96FC6-8647-0656-4C1F-8B1DD3D8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5EFDF-0DBA-ACAA-C240-E3EB86F68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6965D7-C909-5CB6-68EB-07B582DE56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964" r="26247"/>
          <a:stretch>
            <a:fillRect/>
          </a:stretch>
        </p:blipFill>
        <p:spPr>
          <a:xfrm>
            <a:off x="6445" y="0"/>
            <a:ext cx="817809" cy="9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383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9DF0-148C-E4AA-0751-A88E39F5C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B8D4E-3B00-43E2-A047-B87F787EC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C0E7B-CB9F-2AC8-67DA-38EEC8FAE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AC30-D850-4FB5-8334-9C29AB533873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962FE-1235-69CE-969A-CB66D73B0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D3D8D-EE35-B9E6-C4EB-82DBC217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0151F6-7EF9-810E-1DCB-2B275CAB78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964" r="26247"/>
          <a:stretch>
            <a:fillRect/>
          </a:stretch>
        </p:blipFill>
        <p:spPr>
          <a:xfrm>
            <a:off x="12883" y="0"/>
            <a:ext cx="817809" cy="9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69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20EA44-538F-7E60-9D6A-C04D0BD1A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FCCE5-E3B1-E373-4466-200EF436A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D02C2-12FB-FA6E-1521-629249276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B6DE-7FC5-432B-9F96-FB0613FE2172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0C0F6-22AC-1DEC-12C7-0B197303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A5D16-ED8F-9972-A898-666B61F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6A9BCB-435F-DBEB-0E20-0841D3732F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964" r="26247"/>
          <a:stretch>
            <a:fillRect/>
          </a:stretch>
        </p:blipFill>
        <p:spPr>
          <a:xfrm>
            <a:off x="6445" y="0"/>
            <a:ext cx="817809" cy="96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8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6C3B9B-F7E7-1140-C59E-5800EE81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A1FFA-77FC-3C74-9A5C-ECFCAC947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B2D06-912E-49B0-604E-CDBE8E091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03416-2C8D-4253-8235-B2D023519350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1B119-D346-D9C6-6FB5-8C197258A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6EA7F-A612-61A1-E7C6-8D4E69916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3969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>
              <a:spcBef>
                <a:spcPts val="0"/>
              </a:spcBef>
            </a:pPr>
            <a:r>
              <a:rPr lang="en-US" dirty="0"/>
              <a:t>Vision-Based Multi-Class Object Tracking using Dashcam videos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143000" y="2961723"/>
            <a:ext cx="6858000" cy="12418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Siddhant  Jinturkar (BT23ECE066), Akash </a:t>
            </a:r>
            <a:r>
              <a:rPr lang="en-US" dirty="0" err="1"/>
              <a:t>Chincholkar</a:t>
            </a:r>
            <a:r>
              <a:rPr lang="en-US" dirty="0"/>
              <a:t> (BT23ECE085)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Supervisor - Dr. Vishal Satpute</a:t>
            </a:r>
            <a:endParaRPr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F4AA7-FEA4-F6EB-B205-92DC506F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FEBF-5E90-4494-8E4D-44C1CDE71CB6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98844-19E4-2D74-49B2-DEB4ED66D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68CB3-B369-5D81-C1AE-9E0A155D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975A42-241A-6401-E553-C0E08B415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638" y="248592"/>
            <a:ext cx="7886700" cy="994172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4A81A-D5BA-254A-DC61-2FA61FA9E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FDB52-2C6D-47D6-A458-5984D240F588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8B329-80FA-0BFB-E5E0-025AE279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9ED19-E1D3-1CAE-FB2A-88C384FA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219F67-E8BC-4199-B6C3-4FE465CCB6A5}"/>
              </a:ext>
            </a:extLst>
          </p:cNvPr>
          <p:cNvSpPr txBox="1"/>
          <p:nvPr/>
        </p:nvSpPr>
        <p:spPr>
          <a:xfrm>
            <a:off x="568300" y="1073944"/>
            <a:ext cx="42355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High Cost Burden:</a:t>
            </a:r>
            <a:r>
              <a:rPr lang="en-US" sz="1300" dirty="0"/>
              <a:t> Traditional ADAS platforms depend on expensive hardware sensors such as LiDAR and radar.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Lack of Persistence:</a:t>
            </a:r>
            <a:r>
              <a:rPr lang="en-US" sz="1300" dirty="0"/>
              <a:t> Vision-only solutions perform isolated, frame-by-frame detection without maintaining target identities across consecutive frames.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Alert Instability:</a:t>
            </a:r>
            <a:r>
              <a:rPr lang="en-US" sz="1300" dirty="0"/>
              <a:t> Fragmented detection leads to repeated, flickering driver warnings for the same obstacle.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Core Challenge:</a:t>
            </a:r>
            <a:r>
              <a:rPr lang="en-US" sz="1300" dirty="0"/>
              <a:t> Develop a low-cost, real-time vision-only ADAS with object tracking tailored to chaotic Indian road conditions (narrow lanes, mixed traffic, animals, potholes) without extra hardware sensors.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C079C-35B5-A5C9-F733-D88035379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027" y="937499"/>
            <a:ext cx="2905335" cy="16342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E1CAA-EA25-DCD1-0BE6-D665E7BB3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027" y="2793074"/>
            <a:ext cx="2905335" cy="16342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726E40-89C3-D9D9-3B08-7C868B910810}"/>
              </a:ext>
            </a:extLst>
          </p:cNvPr>
          <p:cNvSpPr txBox="1"/>
          <p:nvPr/>
        </p:nvSpPr>
        <p:spPr>
          <a:xfrm>
            <a:off x="5414027" y="4474183"/>
            <a:ext cx="28825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Different Indian scenarios considered for training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35767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E91D6-A437-1019-5282-6DF65E8CA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436" y="264612"/>
            <a:ext cx="7886700" cy="994172"/>
          </a:xfrm>
        </p:spPr>
        <p:txBody>
          <a:bodyPr/>
          <a:lstStyle/>
          <a:p>
            <a:r>
              <a:rPr lang="en-US" dirty="0"/>
              <a:t>Novelty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0192E-3370-80E8-66F7-C3CA8410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E064F-0283-42AD-88B4-28C8C57BB6CD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F8FFA6-3B63-6494-9751-944E0F923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7FFCF-BD26-021D-3E83-D978663B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7AC3C-7859-FBF3-1B92-3404C9E24096}"/>
              </a:ext>
            </a:extLst>
          </p:cNvPr>
          <p:cNvSpPr txBox="1"/>
          <p:nvPr/>
        </p:nvSpPr>
        <p:spPr>
          <a:xfrm>
            <a:off x="872471" y="1258784"/>
            <a:ext cx="739905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/>
              <a:t>Indian Traffic-Aware Tracker</a:t>
            </a:r>
            <a:r>
              <a:rPr lang="en-US" sz="1400" dirty="0"/>
              <a:t>: Optimized to handle unstructured lanes, dense occlusions, and non-standard trajectories in Indian traffic conditions.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Multi-Class Road Entity Coverage</a:t>
            </a:r>
            <a:r>
              <a:rPr lang="en-US" sz="1400" dirty="0"/>
              <a:t>: Extends tracking beyond standard cars to 6 distinct road classes, including two-wheelers, auto-rickshaws, and pedestrians.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Collision Alert System</a:t>
            </a:r>
            <a:r>
              <a:rPr lang="en-US" sz="1400" dirty="0"/>
              <a:t>: Trajectory-based velocity prediction with contextual priority logic for real-time collision warnings.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Unified Multi-Task Pipeline</a:t>
            </a:r>
            <a:r>
              <a:rPr lang="en-US" sz="1400" dirty="0"/>
              <a:t>: Integrates detection, multi-class tracking, and alert generation into a single end-to-end architecture.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Indian Road Scenario Analysis</a:t>
            </a:r>
            <a:r>
              <a:rPr lang="en-US" sz="1400" dirty="0"/>
              <a:t>: Comprehensive failure-mode analysis on RAD dataset tailored to edge dashcam hardware constraints.</a:t>
            </a:r>
          </a:p>
        </p:txBody>
      </p:sp>
    </p:spTree>
    <p:extLst>
      <p:ext uri="{BB962C8B-B14F-4D97-AF65-F5344CB8AC3E}">
        <p14:creationId xmlns:p14="http://schemas.microsoft.com/office/powerpoint/2010/main" val="2033196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791A3-CBA2-BA32-3B7B-205166CDA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966" y="102393"/>
            <a:ext cx="7886700" cy="994172"/>
          </a:xfrm>
        </p:spPr>
        <p:txBody>
          <a:bodyPr>
            <a:normAutofit/>
          </a:bodyPr>
          <a:lstStyle/>
          <a:p>
            <a:r>
              <a:rPr lang="en-US" dirty="0"/>
              <a:t>Work Done Until Now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7AB638-691C-87D2-2BAC-63ABE44E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1E792-1A1D-4A21-B182-9034D4BFBAB8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83EEB5-4233-664D-A9FB-714F314A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641E5-644F-BE81-6638-2626B3A24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1194B6-1E89-EE45-870B-FFECF7B54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068" y="953622"/>
            <a:ext cx="6943028" cy="381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97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8772-1B7C-046B-CFF8-29140E036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59" y="227926"/>
            <a:ext cx="7886700" cy="994172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080A00-6D4F-07E8-ED0F-A21BCF736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D3254-B934-4E6C-95E3-B2BD323597CC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5256BF-BBE4-05AE-E53A-F18AFD36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95BE9-CCFD-19C0-4806-56AFF970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CD068BA-F27B-DAD9-F837-2142D1C5B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110877"/>
              </p:ext>
            </p:extLst>
          </p:nvPr>
        </p:nvGraphicFramePr>
        <p:xfrm>
          <a:off x="379526" y="1134822"/>
          <a:ext cx="4082406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203">
                  <a:extLst>
                    <a:ext uri="{9D8B030D-6E8A-4147-A177-3AD203B41FA5}">
                      <a16:colId xmlns:a16="http://schemas.microsoft.com/office/drawing/2014/main" val="4043819994"/>
                    </a:ext>
                  </a:extLst>
                </a:gridCol>
                <a:gridCol w="2041203">
                  <a:extLst>
                    <a:ext uri="{9D8B030D-6E8A-4147-A177-3AD203B41FA5}">
                      <a16:colId xmlns:a16="http://schemas.microsoft.com/office/drawing/2014/main" val="858788201"/>
                    </a:ext>
                  </a:extLst>
                </a:gridCol>
              </a:tblGrid>
              <a:tr h="25562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441413"/>
                  </a:ext>
                </a:extLst>
              </a:tr>
              <a:tr h="2556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mAP@0.5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518736"/>
                  </a:ext>
                </a:extLst>
              </a:tr>
              <a:tr h="2556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mAP@0.5:0.95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581314"/>
                  </a:ext>
                </a:extLst>
              </a:tr>
              <a:tr h="2556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Inference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35.4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/frame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017295"/>
                  </a:ext>
                </a:extLst>
              </a:tr>
              <a:tr h="2556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FPS (Frames Per Second)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28.3 FPS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022143"/>
                  </a:ext>
                </a:extLst>
              </a:tr>
              <a:tr h="2556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26.1 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0171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4610441-F799-369F-A81E-4050A1226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924952"/>
              </p:ext>
            </p:extLst>
          </p:nvPr>
        </p:nvGraphicFramePr>
        <p:xfrm>
          <a:off x="4682070" y="1064160"/>
          <a:ext cx="435641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137">
                  <a:extLst>
                    <a:ext uri="{9D8B030D-6E8A-4147-A177-3AD203B41FA5}">
                      <a16:colId xmlns:a16="http://schemas.microsoft.com/office/drawing/2014/main" val="1342831498"/>
                    </a:ext>
                  </a:extLst>
                </a:gridCol>
                <a:gridCol w="1452137">
                  <a:extLst>
                    <a:ext uri="{9D8B030D-6E8A-4147-A177-3AD203B41FA5}">
                      <a16:colId xmlns:a16="http://schemas.microsoft.com/office/drawing/2014/main" val="2303511997"/>
                    </a:ext>
                  </a:extLst>
                </a:gridCol>
                <a:gridCol w="1452137">
                  <a:extLst>
                    <a:ext uri="{9D8B030D-6E8A-4147-A177-3AD203B41FA5}">
                      <a16:colId xmlns:a16="http://schemas.microsoft.com/office/drawing/2014/main" val="1403756493"/>
                    </a:ext>
                  </a:extLst>
                </a:gridCol>
              </a:tblGrid>
              <a:tr h="48740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Metric Improvement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Without smoothing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With smoothing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337668"/>
                  </a:ext>
                </a:extLst>
              </a:tr>
              <a:tr h="4874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Frame-to-frame </a:t>
                      </a:r>
                      <a:r>
                        <a:rPr lang="en-US" dirty="0" err="1"/>
                        <a:t>IoU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0.857 (+3.5%)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38447"/>
                  </a:ext>
                </a:extLst>
              </a:tr>
              <a:tr h="4874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Confidence Std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0.0583 (-10%)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395255"/>
                  </a:ext>
                </a:extLst>
              </a:tr>
              <a:tr h="3208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 Consistency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99.98% (+0.46%)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36872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52C551E-7C63-4904-EF65-82E9D568C1A6}"/>
              </a:ext>
            </a:extLst>
          </p:cNvPr>
          <p:cNvSpPr txBox="1"/>
          <p:nvPr/>
        </p:nvSpPr>
        <p:spPr>
          <a:xfrm>
            <a:off x="4839722" y="3168102"/>
            <a:ext cx="41987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3-frame median temporal smoothing improves bounding box stability across consecutive video frames, reducing alert jitter and improving tracking persistence for Phase 2.</a:t>
            </a:r>
          </a:p>
        </p:txBody>
      </p:sp>
      <p:pic>
        <p:nvPicPr>
          <p:cNvPr id="17" name="temporal_smoothing_demo">
            <a:hlinkClick r:id="" action="ppaction://media"/>
            <a:extLst>
              <a:ext uri="{FF2B5EF4-FFF2-40B4-BE49-F238E27FC236}">
                <a16:creationId xmlns:a16="http://schemas.microsoft.com/office/drawing/2014/main" id="{6D562B71-2A5F-25AF-2DEB-DB6CD059698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4729" y="2967983"/>
            <a:ext cx="4539371" cy="127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72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5261-CEC5-1653-1AD6-005B6B7AC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419" y="25981"/>
            <a:ext cx="7886700" cy="994172"/>
          </a:xfrm>
        </p:spPr>
        <p:txBody>
          <a:bodyPr>
            <a:normAutofit/>
          </a:bodyPr>
          <a:lstStyle/>
          <a:p>
            <a:r>
              <a:rPr lang="en-IN" dirty="0"/>
              <a:t>  Results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76E8C-D7DA-6129-BB0C-E2A9B16F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4642B-A71D-4602-8B60-146F1AC2772C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C0465-6539-4D4F-CB9E-2BA827DC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B9214-73C4-F475-009E-1E75C459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8F94E6-4A14-57DC-0908-98D89002B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32" y="698403"/>
            <a:ext cx="3229979" cy="24224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3B4D6A-1395-61F5-9D41-27B5CC344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574" y="574330"/>
            <a:ext cx="3930637" cy="23583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36FC32-9117-B7BB-DAA9-544B2A9D4CDB}"/>
              </a:ext>
            </a:extLst>
          </p:cNvPr>
          <p:cNvSpPr txBox="1"/>
          <p:nvPr/>
        </p:nvSpPr>
        <p:spPr>
          <a:xfrm>
            <a:off x="5887844" y="42225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52EF8D-F361-BCB2-13EE-1FB04AA26FDC}"/>
              </a:ext>
            </a:extLst>
          </p:cNvPr>
          <p:cNvSpPr txBox="1"/>
          <p:nvPr/>
        </p:nvSpPr>
        <p:spPr>
          <a:xfrm>
            <a:off x="4582007" y="2799243"/>
            <a:ext cx="4255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Large objects (HMVs: 0.726 </a:t>
            </a:r>
            <a:r>
              <a:rPr lang="en-US" sz="1000" dirty="0" err="1"/>
              <a:t>mAP</a:t>
            </a:r>
            <a:r>
              <a:rPr lang="en-US" sz="1000" dirty="0"/>
              <a:t>) are detected reliably. Small/textured objects (Road Damages: 0.231, Speed Bumps: 0.408) are challenging.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808D7B-C1DA-322B-489A-B490CCF99911}"/>
              </a:ext>
            </a:extLst>
          </p:cNvPr>
          <p:cNvSpPr txBox="1"/>
          <p:nvPr/>
        </p:nvSpPr>
        <p:spPr>
          <a:xfrm>
            <a:off x="2319454" y="38731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B110AA5-0EC7-C02A-B95A-141D61AD5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19" y="2999298"/>
            <a:ext cx="3302192" cy="18345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E3123E-99A5-4DCA-C623-49E239CBE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1646" y="3199353"/>
            <a:ext cx="2787935" cy="159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14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E6496-B554-59F9-D8F6-329764688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140" y="261327"/>
            <a:ext cx="7886700" cy="994172"/>
          </a:xfrm>
        </p:spPr>
        <p:txBody>
          <a:bodyPr/>
          <a:lstStyle/>
          <a:p>
            <a:r>
              <a:rPr lang="en-US" dirty="0"/>
              <a:t>Status of paper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F14DF-5929-DB59-47A6-C924D2AA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CC2B-92DE-4385-91C2-5237DF4AC033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5CCCCF-DA53-BD3D-6F6F-DBBA1B29F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47E79-CE0D-D6C0-6E2F-8059FD3A7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D39FA-16CA-4E52-6398-83F8863A6405}"/>
              </a:ext>
            </a:extLst>
          </p:cNvPr>
          <p:cNvSpPr txBox="1"/>
          <p:nvPr/>
        </p:nvSpPr>
        <p:spPr>
          <a:xfrm>
            <a:off x="870140" y="1140589"/>
            <a:ext cx="802334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of the paper: </a:t>
            </a:r>
          </a:p>
          <a:p>
            <a:pPr lvl="0"/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Vision-Based Fog and Road Damage Detection for Intelligent Road Risk Assessment</a:t>
            </a:r>
          </a:p>
          <a:p>
            <a:pPr lvl="0"/>
            <a:endParaRPr lang="en-US" sz="1400" dirty="0">
              <a:solidFill>
                <a:schemeClr val="dk1"/>
              </a:solidFill>
            </a:endParaRPr>
          </a:p>
          <a:p>
            <a:pPr lvl="0"/>
            <a:r>
              <a:rPr lang="en-US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Authors:</a:t>
            </a:r>
            <a:r>
              <a:rPr lang="en-US" sz="1400" dirty="0">
                <a:solidFill>
                  <a:schemeClr val="dk1"/>
                </a:solidFill>
              </a:rPr>
              <a:t>1) Siddhant Jinturkar (BT23ECE066)</a:t>
            </a:r>
          </a:p>
          <a:p>
            <a:pPr lvl="0"/>
            <a:r>
              <a:rPr lang="en-US" sz="1400" dirty="0">
                <a:solidFill>
                  <a:schemeClr val="dk1"/>
                </a:solidFill>
              </a:rPr>
              <a:t>                    2) Akash </a:t>
            </a:r>
            <a:r>
              <a:rPr lang="en-US" sz="1400" dirty="0" err="1">
                <a:solidFill>
                  <a:schemeClr val="dk1"/>
                </a:solidFill>
              </a:rPr>
              <a:t>Chincholkar</a:t>
            </a:r>
            <a:r>
              <a:rPr lang="en-US" sz="1400" dirty="0">
                <a:solidFill>
                  <a:schemeClr val="dk1"/>
                </a:solidFill>
              </a:rPr>
              <a:t> (BT23ECE085)</a:t>
            </a:r>
          </a:p>
          <a:p>
            <a:pPr lvl="0"/>
            <a:r>
              <a:rPr lang="en-US" sz="1400" dirty="0">
                <a:solidFill>
                  <a:schemeClr val="dk1"/>
                </a:solidFill>
              </a:rPr>
              <a:t>              </a:t>
            </a:r>
          </a:p>
          <a:p>
            <a:pPr lvl="0"/>
            <a:r>
              <a:rPr lang="en-US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Conference Name: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Paradig</a:t>
            </a:r>
            <a:r>
              <a:rPr lang="en-US" sz="1400" dirty="0">
                <a:solidFill>
                  <a:schemeClr val="dk1"/>
                </a:solidFill>
              </a:rPr>
              <a:t>m shift in Computer vision, Embedded systems, Machine learning, Signal processing (PCEMS), 2026</a:t>
            </a:r>
            <a:endParaRPr lang="en-US" sz="1400" dirty="0"/>
          </a:p>
          <a:p>
            <a:pPr lvl="0"/>
            <a:r>
              <a:rPr lang="en-US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Conference Organizers: 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VNIT </a:t>
            </a:r>
            <a:r>
              <a:rPr lang="en-US" sz="1400" dirty="0">
                <a:solidFill>
                  <a:schemeClr val="dk1"/>
                </a:solidFill>
              </a:rPr>
              <a:t>Nagpur and IEEE</a:t>
            </a:r>
            <a:endParaRPr lang="en-US" sz="1400" dirty="0"/>
          </a:p>
          <a:p>
            <a:pPr lvl="0"/>
            <a:r>
              <a:rPr lang="en-US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Conference venue: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VNIT Nagpur, Maharashtra</a:t>
            </a:r>
            <a:r>
              <a:rPr lang="en-US" sz="1400" dirty="0">
                <a:solidFill>
                  <a:schemeClr val="dk1"/>
                </a:solidFill>
              </a:rPr>
              <a:t> (440010)</a:t>
            </a:r>
            <a:endParaRPr lang="en-US" sz="1400" dirty="0"/>
          </a:p>
          <a:p>
            <a:pPr lvl="0"/>
            <a:r>
              <a:rPr lang="en-US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Conference edition: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5</a:t>
            </a:r>
            <a:r>
              <a:rPr lang="en-US" sz="1400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400" baseline="30000" dirty="0">
                <a:solidFill>
                  <a:schemeClr val="dk1"/>
                </a:solidFill>
              </a:rPr>
              <a:t>h</a:t>
            </a:r>
            <a:r>
              <a:rPr lang="en-US" sz="1400" dirty="0">
                <a:solidFill>
                  <a:schemeClr val="dk1"/>
                </a:solidFill>
              </a:rPr>
              <a:t> International Conference</a:t>
            </a:r>
          </a:p>
          <a:p>
            <a:pPr lvl="0"/>
            <a:r>
              <a:rPr lang="en-US" sz="1400" b="1" dirty="0">
                <a:solidFill>
                  <a:schemeClr val="dk1"/>
                </a:solidFill>
              </a:rPr>
              <a:t>Conference Dates: </a:t>
            </a:r>
            <a:r>
              <a:rPr lang="en-US" sz="1400" dirty="0">
                <a:solidFill>
                  <a:schemeClr val="dk1"/>
                </a:solidFill>
              </a:rPr>
              <a:t>30-31</a:t>
            </a:r>
            <a:r>
              <a:rPr lang="en-US" sz="1400" baseline="30000" dirty="0">
                <a:solidFill>
                  <a:schemeClr val="dk1"/>
                </a:solidFill>
              </a:rPr>
              <a:t>st</a:t>
            </a:r>
            <a:r>
              <a:rPr lang="en-US" sz="1400" dirty="0">
                <a:solidFill>
                  <a:schemeClr val="dk1"/>
                </a:solidFill>
              </a:rPr>
              <a:t> October, 2026</a:t>
            </a:r>
            <a:endParaRPr lang="en-US" sz="1400" b="1" dirty="0"/>
          </a:p>
          <a:p>
            <a:pPr lvl="0"/>
            <a:endParaRPr lang="en-US"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Status: Accepted</a:t>
            </a:r>
            <a:endParaRPr lang="en-US" sz="1400" b="1" dirty="0"/>
          </a:p>
          <a:p>
            <a:pPr lvl="0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64292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2981-5548-CB3D-8C98-B09D7E4E0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836" y="0"/>
            <a:ext cx="7886700" cy="994172"/>
          </a:xfrm>
        </p:spPr>
        <p:txBody>
          <a:bodyPr>
            <a:normAutofit/>
          </a:bodyPr>
          <a:lstStyle/>
          <a:p>
            <a:r>
              <a:rPr lang="en-US" dirty="0"/>
              <a:t>Works to be done with Timeline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7ECF7C-DC2D-43B6-265B-4B493BA1A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A336-8599-4CF9-A84F-5A2A97F079CA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F14AF-F1D0-591D-D91E-81F43D19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Mid Term 2 Project Phase 1 ECD 402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65E0D-F8C8-60DB-EF8B-56A7D150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D90C111-F782-BF0B-BD78-F7A7ACEA1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024169"/>
              </p:ext>
            </p:extLst>
          </p:nvPr>
        </p:nvGraphicFramePr>
        <p:xfrm>
          <a:off x="946752" y="878638"/>
          <a:ext cx="7266412" cy="3888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603">
                  <a:extLst>
                    <a:ext uri="{9D8B030D-6E8A-4147-A177-3AD203B41FA5}">
                      <a16:colId xmlns:a16="http://schemas.microsoft.com/office/drawing/2014/main" val="3311059622"/>
                    </a:ext>
                  </a:extLst>
                </a:gridCol>
                <a:gridCol w="1816603">
                  <a:extLst>
                    <a:ext uri="{9D8B030D-6E8A-4147-A177-3AD203B41FA5}">
                      <a16:colId xmlns:a16="http://schemas.microsoft.com/office/drawing/2014/main" val="2763231607"/>
                    </a:ext>
                  </a:extLst>
                </a:gridCol>
                <a:gridCol w="1816603">
                  <a:extLst>
                    <a:ext uri="{9D8B030D-6E8A-4147-A177-3AD203B41FA5}">
                      <a16:colId xmlns:a16="http://schemas.microsoft.com/office/drawing/2014/main" val="2486679108"/>
                    </a:ext>
                  </a:extLst>
                </a:gridCol>
                <a:gridCol w="1816603">
                  <a:extLst>
                    <a:ext uri="{9D8B030D-6E8A-4147-A177-3AD203B41FA5}">
                      <a16:colId xmlns:a16="http://schemas.microsoft.com/office/drawing/2014/main" val="3507443385"/>
                    </a:ext>
                  </a:extLst>
                </a:gridCol>
              </a:tblGrid>
              <a:tr h="511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Key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Deliverables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262982"/>
                  </a:ext>
                </a:extLst>
              </a:tr>
              <a:tr h="1020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Phase 2: Object Tracking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O</a:t>
                      </a:r>
                      <a:r>
                        <a:rPr lang="en-US" sz="1100" dirty="0" err="1"/>
                        <a:t>ctober</a:t>
                      </a:r>
                      <a:r>
                        <a:rPr lang="en-US" sz="1100" dirty="0"/>
                        <a:t>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• Implement ByteTrack</a:t>
                      </a:r>
                      <a:br>
                        <a:rPr lang="en-US" sz="1100"/>
                      </a:br>
                      <a:r>
                        <a:rPr lang="en-US" sz="1100"/>
                        <a:t>• Implement DeepSORT</a:t>
                      </a:r>
                      <a:br>
                        <a:rPr lang="en-US" sz="1100"/>
                      </a:br>
                      <a:r>
                        <a:rPr lang="en-US" sz="1100"/>
                        <a:t>• Evaluate on RAD videos</a:t>
                      </a:r>
                      <a:br>
                        <a:rPr lang="en-US" sz="1100"/>
                      </a:br>
                      <a:r>
                        <a:rPr lang="en-US" sz="1100"/>
                        <a:t>• MOTA/MOTP benchmarking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• Tracker comparison table</a:t>
                      </a:r>
                      <a:br>
                        <a:rPr lang="en-US" sz="1100"/>
                      </a:br>
                      <a:r>
                        <a:rPr lang="en-US" sz="1100"/>
                        <a:t>• Best tracker selected</a:t>
                      </a:r>
                      <a:br>
                        <a:rPr lang="en-US" sz="1100"/>
                      </a:br>
                      <a:r>
                        <a:rPr lang="en-US" sz="1100"/>
                        <a:t>• Video tracking demo</a:t>
                      </a:r>
                      <a:br>
                        <a:rPr lang="en-US" sz="1100"/>
                      </a:br>
                      <a:r>
                        <a:rPr lang="en-US" sz="1100"/>
                        <a:t>• Tracking metrics report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456701"/>
                  </a:ext>
                </a:extLst>
              </a:tr>
              <a:tr h="1336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Phase 3: Hard Class Improvement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N</a:t>
                      </a:r>
                      <a:r>
                        <a:rPr lang="en-US" sz="1100" dirty="0" err="1"/>
                        <a:t>ovember</a:t>
                      </a:r>
                      <a:r>
                        <a:rPr lang="en-US" sz="1100" dirty="0"/>
                        <a:t> – December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• Identify weak classes (potholes, bumps)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• Enhanced data augmentation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• Retrain detector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• Per-class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• Improved mAP for hard objects</a:t>
                      </a:r>
                      <a:br>
                        <a:rPr lang="en-US" sz="1100"/>
                      </a:br>
                      <a:r>
                        <a:rPr lang="en-US" sz="1100"/>
                        <a:t>• Class-wise metrics table</a:t>
                      </a:r>
                      <a:br>
                        <a:rPr lang="en-US" sz="1100"/>
                      </a:br>
                      <a:r>
                        <a:rPr lang="en-US" sz="1100"/>
                        <a:t>• Augmentation techniques doc</a:t>
                      </a:r>
                      <a:br>
                        <a:rPr lang="en-US" sz="1100"/>
                      </a:br>
                      <a:r>
                        <a:rPr lang="en-US" sz="1100"/>
                        <a:t>• Before/after comparison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865025"/>
                  </a:ext>
                </a:extLst>
              </a:tr>
              <a:tr h="1020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Phase 4: Real-time Optimization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January</a:t>
                      </a:r>
                      <a:r>
                        <a:rPr lang="en-US" sz="1100" dirty="0"/>
                        <a:t> 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• Inference speed optimization</a:t>
                      </a:r>
                      <a:br>
                        <a:rPr lang="en-US" sz="1100"/>
                      </a:br>
                      <a:r>
                        <a:rPr lang="en-US" sz="1100"/>
                        <a:t>• Model quantization</a:t>
                      </a:r>
                      <a:br>
                        <a:rPr lang="en-US" sz="1100"/>
                      </a:br>
                      <a:r>
                        <a:rPr lang="en-US" sz="1100"/>
                        <a:t>• Edge device compatibility</a:t>
                      </a:r>
                      <a:br>
                        <a:rPr lang="en-US" sz="1100"/>
                      </a:br>
                      <a:r>
                        <a:rPr lang="en-US" sz="1100"/>
                        <a:t>• Latency benchmarks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• Speed vs accuracy tradeoff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• Deployment guide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• Performance report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• Optimization techniques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095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25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1711</TotalTime>
  <Words>662</Words>
  <Application>Microsoft Office PowerPoint</Application>
  <PresentationFormat>On-screen Show (16:9)</PresentationFormat>
  <Paragraphs>107</Paragraphs>
  <Slides>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Vision-Based Multi-Class Object Tracking using Dashcam videos</vt:lpstr>
      <vt:lpstr>Problem Statement</vt:lpstr>
      <vt:lpstr>Novelty</vt:lpstr>
      <vt:lpstr>Work Done Until Now</vt:lpstr>
      <vt:lpstr>Results</vt:lpstr>
      <vt:lpstr>  Results</vt:lpstr>
      <vt:lpstr>Status of paper</vt:lpstr>
      <vt:lpstr>Works to be done with 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 Project Rules/Standards</dc:title>
  <dc:creator>SS</dc:creator>
  <cp:lastModifiedBy>Siddhant Jinturkar</cp:lastModifiedBy>
  <cp:revision>15</cp:revision>
  <dcterms:modified xsi:type="dcterms:W3CDTF">2026-10-07T11:23:41Z</dcterms:modified>
</cp:coreProperties>
</file>